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497" r:id="rId2"/>
    <p:sldId id="478" r:id="rId3"/>
    <p:sldId id="479" r:id="rId4"/>
    <p:sldId id="480" r:id="rId5"/>
    <p:sldId id="481" r:id="rId6"/>
    <p:sldId id="483" r:id="rId7"/>
    <p:sldId id="498" r:id="rId8"/>
    <p:sldId id="499" r:id="rId9"/>
    <p:sldId id="482" r:id="rId10"/>
    <p:sldId id="485" r:id="rId11"/>
    <p:sldId id="486" r:id="rId12"/>
    <p:sldId id="487" r:id="rId13"/>
    <p:sldId id="489" r:id="rId14"/>
    <p:sldId id="490" r:id="rId15"/>
    <p:sldId id="491" r:id="rId16"/>
    <p:sldId id="492" r:id="rId17"/>
    <p:sldId id="493" r:id="rId18"/>
    <p:sldId id="494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B0EC743-F40F-4F79-A4FE-AEB39F3EEAAD}">
          <p14:sldIdLst>
            <p14:sldId id="497"/>
            <p14:sldId id="478"/>
            <p14:sldId id="479"/>
            <p14:sldId id="480"/>
            <p14:sldId id="481"/>
            <p14:sldId id="483"/>
            <p14:sldId id="498"/>
            <p14:sldId id="499"/>
            <p14:sldId id="482"/>
            <p14:sldId id="485"/>
            <p14:sldId id="486"/>
            <p14:sldId id="487"/>
            <p14:sldId id="489"/>
            <p14:sldId id="490"/>
            <p14:sldId id="491"/>
            <p14:sldId id="492"/>
            <p14:sldId id="493"/>
            <p14:sldId id="4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37033-E236-45F6-A9E0-7C46C0DF1503}" v="50" dt="2025-06-17T14:39:02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505A1C5-5942-45C4-90F6-0114862065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F6A899A-039E-4824-AB30-131457074A9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0BDD8C0B-C320-4531-9FB1-5BEE016F708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0F86A956-0755-4FCA-B937-B947CE68ABF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BE364FB4-7E89-47D7-8C03-D7685F79057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87B97F43-7895-4629-B721-C75CE8CA82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4458BED-C3F4-42FE-9C8B-6124B960175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D25EBFC3-D9CE-44E9-BA97-15E4BD65D4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90716D0F-8F2D-4A64-8B4A-22BE2FC77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54A7933F-C254-49EA-A796-F1347BB4D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CFAA134-65D2-4284-BC5E-0DB01FDE7EA8}" type="slidenum">
              <a:rPr lang="he-IL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061A24-F687-4985-BF12-A97984363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EE4DC8-C618-4BB8-B843-B7E1C7BABB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78170C-411D-4AEE-ADA4-14C11F981A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5DA55-E62E-4AAE-9556-8D7643C14BF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9432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FB4B8B-F9E3-4C82-92BE-E1117213B9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2C4511-74E6-44BF-A299-FDA425B5E4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65E855-2B81-4BCC-8988-10BC1EEF76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C08130-B850-4002-827E-42D5DD1DADE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125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2899F2-CA65-4F12-99A0-D8FBBE6368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2CC38A-E9AA-4E6B-8990-E195FCF16D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48AED6-EE61-40AB-AEBD-B86CE0ED66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3544AC-4EBA-4556-9039-6805EB94BFF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883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C42AAB-D9C4-4461-A9A5-1BA78A66BF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666CE-9F35-4F64-B55D-71AA4BE4AC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0806C1-D4C3-4F98-8204-25D738EAF9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1412C-199A-4FF9-8ABE-E4B2DD433C1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727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F70E8B7-7C9D-4121-98FB-5CBF2DEAA5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BFCA8CE-309B-4CDE-A6A2-48D82EF212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DF7BD99-498A-4231-8B70-2494115961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1C3C5-3851-4707-83F1-9C1778F37DB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85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B299413-074C-4ED2-AC76-ADF43B214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B4C5661-AAF8-4D09-AE65-580E154EED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1909FA-8D92-4C3B-AC23-7B466FFD5B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AA2DC4-6926-44D1-8147-99398DA66F0B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7856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3D36C78-7127-4F51-9D9E-AAEA461075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FD7C285-92C9-46BE-944C-F0842C0AF1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FEA5337-09CE-4B77-BB6B-0400BA9ED9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37AB6-F4C4-463C-ADF6-CCB4B685D0F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739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5887C7-A9D9-4986-8E8E-06C9A21722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9A10C1-4E5E-46EC-BBAA-CE7E297C7F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A59F6C-D22A-4432-AFDE-1CF4111A53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7FA6F-6955-4828-BC59-F9DC6D51C3E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7254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3176F8-5B5E-49C2-B2CB-960AC1DCA8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CCC34E-A7BD-4A32-BBB7-4EFBCA37AD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6D4F7E-649F-4555-BC25-75A000446A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F8D143-F5E5-46D1-894E-0B8746A33A3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387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4163C6-5977-46C8-B2D4-099C9B1AE8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C9A2B5-5662-4979-B999-06A6170D3D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FF80E1-0B8D-4C89-AE6B-1E6534D525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B1F329-3542-48B3-ACC2-9E3E2824EFA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170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013235-FACA-4180-86CB-6C4100B92C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453720-F053-4732-8A5E-F45C253ABE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058E70-BFA2-47E3-AA7E-C680E00B8B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D01961-B64E-44B4-AC1D-C9598276673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0915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DE2111E-AAC7-4F64-A014-7B11ACCAC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2038967-A466-4EDA-9227-0C87ED7236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6BB0536-2D85-43B6-BDDF-F86444FEABF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27DC75-4B7D-4254-8FA8-0F36C86EAF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DCDB39F-38E2-4FA1-BA09-A19E540F3A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035D27D-3792-4BF7-B46E-723D255FD5B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A70F110-23E6-4A4D-BE44-909469C6A44B}"/>
              </a:ext>
            </a:extLst>
          </p:cNvPr>
          <p:cNvSpPr txBox="1"/>
          <p:nvPr/>
        </p:nvSpPr>
        <p:spPr>
          <a:xfrm>
            <a:off x="264159" y="304800"/>
            <a:ext cx="8615680" cy="685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3600">
                <a:solidFill>
                  <a:srgbClr val="000000"/>
                </a:solidFill>
                <a:latin typeface="Arial"/>
                <a:cs typeface="Arial"/>
              </a:rPr>
              <a:t>Introduction – The Displacement vs.</a:t>
            </a:r>
            <a:endParaRPr lang="en-IL" sz="3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21C7E-6FAB-45F2-BC41-45914D4E9321}"/>
              </a:ext>
            </a:extLst>
          </p:cNvPr>
          <p:cNvSpPr txBox="1"/>
          <p:nvPr/>
        </p:nvSpPr>
        <p:spPr>
          <a:xfrm>
            <a:off x="2751328" y="914400"/>
            <a:ext cx="3641344" cy="685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3600">
                <a:solidFill>
                  <a:srgbClr val="000000"/>
                </a:solidFill>
                <a:latin typeface="Arial"/>
                <a:cs typeface="Arial"/>
              </a:rPr>
              <a:t>Force Debate</a:t>
            </a:r>
            <a:endParaRPr lang="en-IL" sz="3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408BFB-DC53-4522-B6CE-C9AD8880A18A}"/>
              </a:ext>
            </a:extLst>
          </p:cNvPr>
          <p:cNvSpPr txBox="1"/>
          <p:nvPr/>
        </p:nvSpPr>
        <p:spPr>
          <a:xfrm>
            <a:off x="546100" y="2006600"/>
            <a:ext cx="80645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•  M1 activity was early conceptualized as a direct controller of physical parameters like force magnitude and rate of change (</a:t>
            </a:r>
            <a:r>
              <a:rPr lang="en-US" sz="2400" dirty="0" err="1">
                <a:solidFill>
                  <a:srgbClr val="000000"/>
                </a:solidFill>
                <a:latin typeface="Arial"/>
                <a:cs typeface="Arial"/>
              </a:rPr>
              <a:t>dF</a:t>
            </a: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/dt).</a:t>
            </a:r>
            <a:endParaRPr lang="en-IL" sz="2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1DC00B-C3D1-4CA2-AE89-588B825D134A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Evarts J Neurophysiol 1968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3029E7-E81D-E8A4-AF81-DE13D9C32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723" y="3334991"/>
            <a:ext cx="2829250" cy="33640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041454-E617-5DC5-DCED-E23CA35CB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457" y="3338910"/>
            <a:ext cx="2829250" cy="310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45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D7FEF43-172D-4FA3-9775-1550F258F747}"/>
              </a:ext>
            </a:extLst>
          </p:cNvPr>
          <p:cNvSpPr txBox="1"/>
          <p:nvPr/>
        </p:nvSpPr>
        <p:spPr>
          <a:xfrm>
            <a:off x="838199" y="304800"/>
            <a:ext cx="746760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Directional Tuning of Single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5C7ECE-A179-4DA7-A664-F13CB166AFC2}"/>
              </a:ext>
            </a:extLst>
          </p:cNvPr>
          <p:cNvSpPr txBox="1"/>
          <p:nvPr/>
        </p:nvSpPr>
        <p:spPr>
          <a:xfrm>
            <a:off x="3246120" y="965200"/>
            <a:ext cx="265176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Neurons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AE69D5-CFB9-46EA-893D-3A7246813C3D}"/>
              </a:ext>
            </a:extLst>
          </p:cNvPr>
          <p:cNvSpPr txBox="1"/>
          <p:nvPr/>
        </p:nvSpPr>
        <p:spPr>
          <a:xfrm>
            <a:off x="539749" y="1775098"/>
            <a:ext cx="80645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dirty="0">
                <a:solidFill>
                  <a:srgbClr val="000000"/>
                </a:solidFill>
                <a:latin typeface="Arial"/>
                <a:cs typeface="Arial"/>
              </a:rPr>
              <a:t>•  Individual M1 cells show broad, sinusoidal tuning curves related to movement direction in 2D and 3D space.</a:t>
            </a:r>
            <a:endParaRPr lang="en-IL" sz="2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503A12-9ECC-48B3-8EB7-D1F08777759A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Georgopoulos J Neurosci 1982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EA682A-B8C7-E291-FF36-4DEF2896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254684"/>
            <a:ext cx="3961853" cy="27807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EF7699-C346-4EC4-CDD4-B90FFEFFC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3130564"/>
            <a:ext cx="4356036" cy="290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35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76394A1-A0DD-4EF9-B34C-B3D61768D80E}"/>
              </a:ext>
            </a:extLst>
          </p:cNvPr>
          <p:cNvSpPr txBox="1"/>
          <p:nvPr/>
        </p:nvSpPr>
        <p:spPr>
          <a:xfrm>
            <a:off x="269239" y="482600"/>
            <a:ext cx="860552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The Population Vector Algorithm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808D38-A63E-4F65-871E-F5524B55559E}"/>
              </a:ext>
            </a:extLst>
          </p:cNvPr>
          <p:cNvSpPr txBox="1"/>
          <p:nvPr/>
        </p:nvSpPr>
        <p:spPr>
          <a:xfrm>
            <a:off x="539749" y="1379033"/>
            <a:ext cx="80645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•  Directional intent is uniquely predicted by the weighted sum of a population of broadly tuned cells.</a:t>
            </a:r>
            <a:endParaRPr lang="en-IL" sz="2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CCCE00-F3FF-4D0E-92A0-C5B3E45332D1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Georgopoulos Science 1986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A370E2-58B1-13D3-9B7B-FDE540649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2371275"/>
            <a:ext cx="2987110" cy="42269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B22205-1637-6C5D-22FC-F78C47FDA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852936"/>
            <a:ext cx="4758084" cy="332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5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45554E7-A854-4A2E-AFFB-6732C4783F7F}"/>
              </a:ext>
            </a:extLst>
          </p:cNvPr>
          <p:cNvSpPr txBox="1"/>
          <p:nvPr/>
        </p:nvSpPr>
        <p:spPr>
          <a:xfrm>
            <a:off x="127000" y="482600"/>
            <a:ext cx="889000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Representing Complex Trajectories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7E7BDF-24AA-48C2-9963-D28B7360799E}"/>
              </a:ext>
            </a:extLst>
          </p:cNvPr>
          <p:cNvSpPr txBox="1"/>
          <p:nvPr/>
        </p:nvSpPr>
        <p:spPr>
          <a:xfrm>
            <a:off x="539750" y="1340768"/>
            <a:ext cx="80645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000000"/>
                </a:solidFill>
                <a:latin typeface="Arial"/>
                <a:cs typeface="Arial"/>
              </a:rPr>
              <a:t>•  Population activity can accurately visualize the shape of complex figures, such as spirals, as a movement plan.</a:t>
            </a:r>
            <a:endParaRPr lang="en-IL" sz="2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0591F4-F919-4500-9639-84EBAE625413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Moran J Neurophysiol 1999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80D451-04A5-2A8E-C128-C28962CA2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17" y="2852936"/>
            <a:ext cx="4446872" cy="31438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062154-BD85-FFAE-F2AB-3243B6AE4E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448"/>
          <a:stretch>
            <a:fillRect/>
          </a:stretch>
        </p:blipFill>
        <p:spPr>
          <a:xfrm>
            <a:off x="6034263" y="2155886"/>
            <a:ext cx="2569987" cy="23557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9881EE-2B7B-3A5D-DCF8-1E2BF03029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760"/>
          <a:stretch>
            <a:fillRect/>
          </a:stretch>
        </p:blipFill>
        <p:spPr>
          <a:xfrm>
            <a:off x="6197180" y="4427654"/>
            <a:ext cx="2363040" cy="23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33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2EEB0-A8B8-1654-A836-A8DC9DA6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56C23B6-471E-4664-9CCA-BEE35BBB4503}"/>
              </a:ext>
            </a:extLst>
          </p:cNvPr>
          <p:cNvSpPr txBox="1"/>
          <p:nvPr/>
        </p:nvSpPr>
        <p:spPr>
          <a:xfrm>
            <a:off x="602487" y="304800"/>
            <a:ext cx="7939024" cy="685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3600">
                <a:solidFill>
                  <a:srgbClr val="000000"/>
                </a:solidFill>
                <a:latin typeface="Arial"/>
                <a:cs typeface="Arial"/>
              </a:rPr>
              <a:t>“Inconvenient Truths”: Limits of</a:t>
            </a:r>
            <a:endParaRPr lang="en-IL" sz="3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B16EB0-EFB2-4DA8-90B9-0F1B1EF5B156}"/>
              </a:ext>
            </a:extLst>
          </p:cNvPr>
          <p:cNvSpPr txBox="1"/>
          <p:nvPr/>
        </p:nvSpPr>
        <p:spPr>
          <a:xfrm>
            <a:off x="2513583" y="914400"/>
            <a:ext cx="4116832" cy="685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3600">
                <a:solidFill>
                  <a:srgbClr val="000000"/>
                </a:solidFill>
                <a:latin typeface="Arial"/>
                <a:cs typeface="Arial"/>
              </a:rPr>
              <a:t>Representation</a:t>
            </a:r>
            <a:endParaRPr lang="en-IL" sz="3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614910-F340-40E1-A09D-C23807D79186}"/>
              </a:ext>
            </a:extLst>
          </p:cNvPr>
          <p:cNvSpPr txBox="1"/>
          <p:nvPr/>
        </p:nvSpPr>
        <p:spPr>
          <a:xfrm>
            <a:off x="602487" y="1765300"/>
            <a:ext cx="80645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dirty="0">
                <a:solidFill>
                  <a:srgbClr val="000000"/>
                </a:solidFill>
                <a:latin typeface="Arial"/>
                <a:cs typeface="Arial"/>
              </a:rPr>
              <a:t>•  Tuning magnitude and breadth are not stable; they often change non-linearly when speed or distance varies.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6E50F2-628D-4F44-A5E7-76FFD111A82C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Scott J Physiol 2008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B02025-2BF6-BE98-E077-B7177E93E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334166"/>
            <a:ext cx="3384376" cy="2757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C43613-C23D-6493-2991-F5F3B1F6C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3192513"/>
            <a:ext cx="3528392" cy="349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82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B699D-8786-BD25-52B7-8C8B2AC69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FC69FB3-771C-4601-A294-DB934CDEF96C}"/>
              </a:ext>
            </a:extLst>
          </p:cNvPr>
          <p:cNvSpPr txBox="1"/>
          <p:nvPr/>
        </p:nvSpPr>
        <p:spPr>
          <a:xfrm>
            <a:off x="289559" y="304800"/>
            <a:ext cx="856488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Discovering Rotational Dynamics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08E7B2-E5B0-4726-8F5B-67E8DDEF6AD7}"/>
              </a:ext>
            </a:extLst>
          </p:cNvPr>
          <p:cNvSpPr txBox="1"/>
          <p:nvPr/>
        </p:nvSpPr>
        <p:spPr>
          <a:xfrm>
            <a:off x="3388360" y="965200"/>
            <a:ext cx="236728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(jPCA)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242266-6381-433A-B9BD-A64602099313}"/>
              </a:ext>
            </a:extLst>
          </p:cNvPr>
          <p:cNvSpPr txBox="1"/>
          <p:nvPr/>
        </p:nvSpPr>
        <p:spPr>
          <a:xfrm>
            <a:off x="546100" y="1805599"/>
            <a:ext cx="8064500" cy="837041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•  Population states consistently rotate over time across different species and movement types.</a:t>
            </a:r>
            <a:endParaRPr lang="en-IL" sz="2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0E26E3-C253-4238-945D-254203F17621}"/>
              </a:ext>
            </a:extLst>
          </p:cNvPr>
          <p:cNvSpPr txBox="1"/>
          <p:nvPr/>
        </p:nvSpPr>
        <p:spPr>
          <a:xfrm>
            <a:off x="179512" y="64262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Churchland Nature 2012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7A663E-FFD6-1C93-7874-A27FD1454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856" y="2659905"/>
            <a:ext cx="5344368" cy="1764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04705D-4179-1A07-631F-03CB2B779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504" y="4437577"/>
            <a:ext cx="5066704" cy="206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04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76BB5-E217-22C0-25D7-C26E2B6E7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Rotational dynamics in M1 reaching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673F-E9A6-1E44-5B45-758356F88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680"/>
          </a:xfrm>
        </p:spPr>
        <p:txBody>
          <a:bodyPr/>
          <a:lstStyle/>
          <a:p>
            <a:r>
              <a:rPr lang="en-US" sz="2800" dirty="0"/>
              <a:t>With the right dimensionality reduction we can see the rotations in neural activity</a:t>
            </a:r>
            <a:endParaRPr lang="en-IL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76E75-057D-3558-C617-C9CE39C74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924944"/>
            <a:ext cx="4432926" cy="3096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78D4D5-8E2D-56E9-805A-84F669C11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96" y="2924944"/>
            <a:ext cx="4040260" cy="36584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9A2EA3-EFA8-01DE-6AD9-9761BE0F5824}"/>
              </a:ext>
            </a:extLst>
          </p:cNvPr>
          <p:cNvSpPr txBox="1"/>
          <p:nvPr/>
        </p:nvSpPr>
        <p:spPr>
          <a:xfrm>
            <a:off x="179512" y="64262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Churchland Nature 2012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5940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D7528-6EC4-8032-3E2E-CF180C34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or feedforward motor control?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A853B-7DB1-6960-CF3F-8EC7BBDC5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43001"/>
          </a:xfrm>
        </p:spPr>
        <p:txBody>
          <a:bodyPr/>
          <a:lstStyle/>
          <a:p>
            <a:r>
              <a:rPr lang="en-US" sz="2800" dirty="0"/>
              <a:t>Does a trained network model choose feedforward or feedback control of reaching?</a:t>
            </a:r>
            <a:endParaRPr lang="en-IL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D8CF7D-AB87-7514-BB36-F71374A30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564904"/>
            <a:ext cx="7092280" cy="37420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074674-E608-FD58-AFE8-0744842BB74A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Schimel Frontiers Neural Circuits 2023</a:t>
            </a:r>
            <a:endParaRPr lang="en-IL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9653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A415733-9D4A-4369-AFEB-174085D58194}"/>
              </a:ext>
            </a:extLst>
          </p:cNvPr>
          <p:cNvSpPr txBox="1"/>
          <p:nvPr/>
        </p:nvSpPr>
        <p:spPr>
          <a:xfrm>
            <a:off x="179512" y="368300"/>
            <a:ext cx="803656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3200" dirty="0">
                <a:solidFill>
                  <a:srgbClr val="000000"/>
                </a:solidFill>
                <a:latin typeface="Arial"/>
                <a:cs typeface="Arial"/>
              </a:rPr>
              <a:t>Initial conditions and dynamics drive movement</a:t>
            </a:r>
            <a:endParaRPr lang="en-IL" sz="32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B0F3CA-EAE7-466B-AC70-251EB34B2354}"/>
              </a:ext>
            </a:extLst>
          </p:cNvPr>
          <p:cNvSpPr txBox="1"/>
          <p:nvPr/>
        </p:nvSpPr>
        <p:spPr>
          <a:xfrm>
            <a:off x="574609" y="1391239"/>
            <a:ext cx="80645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>
                <a:solidFill>
                  <a:srgbClr val="000000"/>
                </a:solidFill>
                <a:latin typeface="Arial"/>
                <a:cs typeface="Arial"/>
              </a:rPr>
              <a:t>•  Shift from a representational “code” to a dynamical model where orthogonal rotations drive motor output.</a:t>
            </a:r>
            <a:endParaRPr lang="en-IL" sz="2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9A356A-ABEA-4D5D-A700-AD5C3BF6B73A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Churchland Nature 2012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C68F55-9029-5A28-8A4B-7A2FFF50B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137189"/>
            <a:ext cx="3038847" cy="22337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155875-486C-7B04-53C2-4110003D6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859" y="2953483"/>
            <a:ext cx="3494451" cy="353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49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10E8-F4B4-630E-5B01-19061E356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1E4B58B3-061D-4E75-9FA5-C931A2231CC0}"/>
              </a:ext>
            </a:extLst>
          </p:cNvPr>
          <p:cNvSpPr txBox="1"/>
          <p:nvPr/>
        </p:nvSpPr>
        <p:spPr>
          <a:xfrm>
            <a:off x="827584" y="218315"/>
            <a:ext cx="728472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 dirty="0">
                <a:solidFill>
                  <a:srgbClr val="000000"/>
                </a:solidFill>
                <a:latin typeface="Arial"/>
                <a:cs typeface="Arial"/>
              </a:rPr>
              <a:t>Subspaces for Information</a:t>
            </a:r>
            <a:endParaRPr lang="en-IL" sz="4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BA871E-87D8-4FC6-A486-E239A12D8D03}"/>
              </a:ext>
            </a:extLst>
          </p:cNvPr>
          <p:cNvSpPr txBox="1"/>
          <p:nvPr/>
        </p:nvSpPr>
        <p:spPr>
          <a:xfrm>
            <a:off x="2483768" y="836712"/>
            <a:ext cx="367792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 dirty="0">
                <a:solidFill>
                  <a:srgbClr val="000000"/>
                </a:solidFill>
                <a:latin typeface="Arial"/>
                <a:cs typeface="Arial"/>
              </a:rPr>
              <a:t>Multiplexing</a:t>
            </a:r>
            <a:endParaRPr lang="en-IL" sz="4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9890BD-B4A3-4CD5-A65F-EA1C6D15F7EE}"/>
              </a:ext>
            </a:extLst>
          </p:cNvPr>
          <p:cNvSpPr txBox="1"/>
          <p:nvPr/>
        </p:nvSpPr>
        <p:spPr>
          <a:xfrm>
            <a:off x="290478" y="1645609"/>
            <a:ext cx="80645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•  The brain partitions activity into orthogonal subspaces to manage distinct signals without interference.</a:t>
            </a:r>
            <a:endParaRPr lang="en-IL" sz="2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049735-1B9C-4B9C-9365-E0C8AC4E2ADD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Marino Neuron 2025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157574-2B94-66EF-2062-0E71AC90D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04" y="2908135"/>
            <a:ext cx="2495481" cy="23042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74972A-DD96-4A46-C117-7285E695A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735770"/>
            <a:ext cx="6012160" cy="289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88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2BC94A7-23E1-4834-83F5-3DE3B2FEFC23}"/>
              </a:ext>
            </a:extLst>
          </p:cNvPr>
          <p:cNvSpPr txBox="1"/>
          <p:nvPr/>
        </p:nvSpPr>
        <p:spPr>
          <a:xfrm>
            <a:off x="1498599" y="482600"/>
            <a:ext cx="614680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The Posture Subspace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64F66-0E81-4DE1-9F42-F10712F820C3}"/>
              </a:ext>
            </a:extLst>
          </p:cNvPr>
          <p:cNvSpPr txBox="1"/>
          <p:nvPr/>
        </p:nvSpPr>
        <p:spPr>
          <a:xfrm>
            <a:off x="539750" y="1219200"/>
            <a:ext cx="80645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•  Changes in arm posture cause a linear “offset” in neural activity, while the shape of reach trajectories remains conserved.</a:t>
            </a:r>
            <a:endParaRPr lang="en-IL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E6EEED-66F1-4423-889A-4A4BD6150817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Marino Neuron 2025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77E1AB-FD50-39D5-30E5-C0EC3AE22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75491"/>
            <a:ext cx="7272808" cy="444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878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1823902-30DD-45F0-9E06-38A8B38E7872}"/>
              </a:ext>
            </a:extLst>
          </p:cNvPr>
          <p:cNvSpPr txBox="1"/>
          <p:nvPr/>
        </p:nvSpPr>
        <p:spPr>
          <a:xfrm>
            <a:off x="431799" y="304800"/>
            <a:ext cx="828040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Output-Null vs. Output-Potent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B7C4A4-CD51-4CA1-A226-167287ACD3A5}"/>
              </a:ext>
            </a:extLst>
          </p:cNvPr>
          <p:cNvSpPr txBox="1"/>
          <p:nvPr/>
        </p:nvSpPr>
        <p:spPr>
          <a:xfrm>
            <a:off x="2961640" y="965200"/>
            <a:ext cx="322072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Dimensions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8EF2FF-2E6B-4F8E-8CBC-33F1E5D82E7B}"/>
              </a:ext>
            </a:extLst>
          </p:cNvPr>
          <p:cNvSpPr txBox="1"/>
          <p:nvPr/>
        </p:nvSpPr>
        <p:spPr>
          <a:xfrm>
            <a:off x="539749" y="1671381"/>
            <a:ext cx="80645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•  Sensory feedback and preparatory signals are initially isolated in output-null dimensions to prevent premature movement.</a:t>
            </a:r>
            <a:endParaRPr lang="en-IL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18281E-901A-48E8-AC24-CFDC6B80A60D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Marino Neuron 2025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74E247-89B7-F610-677D-77D63A7CA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48" y="2433629"/>
            <a:ext cx="6838951" cy="395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81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88FCF33-5F4B-437C-A5C8-9D41E5BEBC9B}"/>
              </a:ext>
            </a:extLst>
          </p:cNvPr>
          <p:cNvSpPr txBox="1"/>
          <p:nvPr/>
        </p:nvSpPr>
        <p:spPr>
          <a:xfrm>
            <a:off x="127000" y="304800"/>
            <a:ext cx="889000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Computational “Why”: Optimality in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13F5A2-7DA9-47D6-BDA1-BF6DD475D1B1}"/>
              </a:ext>
            </a:extLst>
          </p:cNvPr>
          <p:cNvSpPr txBox="1"/>
          <p:nvPr/>
        </p:nvSpPr>
        <p:spPr>
          <a:xfrm>
            <a:off x="3672840" y="965200"/>
            <a:ext cx="179832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RNNs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408817-1F6C-4C6F-B150-369C7D463890}"/>
              </a:ext>
            </a:extLst>
          </p:cNvPr>
          <p:cNvSpPr txBox="1"/>
          <p:nvPr/>
        </p:nvSpPr>
        <p:spPr>
          <a:xfrm>
            <a:off x="539750" y="1727200"/>
            <a:ext cx="4608314" cy="1989832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•  Preparation arises naturally in RNNs as an optimal strategy to minimize the complexity and energy of descending control inputs.</a:t>
            </a:r>
            <a:endParaRPr lang="en-IL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65D979-A7B7-4230-B2F9-A44CB0619205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Schimel eLife 2023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62666E-C062-3BBE-FAB6-4154539AC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1255605"/>
            <a:ext cx="2150867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32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EEED1B0-8155-4DD4-BE2C-BE17EEFEBBD8}"/>
              </a:ext>
            </a:extLst>
          </p:cNvPr>
          <p:cNvSpPr txBox="1"/>
          <p:nvPr/>
        </p:nvSpPr>
        <p:spPr>
          <a:xfrm>
            <a:off x="289559" y="482600"/>
            <a:ext cx="856488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Observability vs. Controllability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1A34E0-6ECB-4FB1-9189-73781044441F}"/>
              </a:ext>
            </a:extLst>
          </p:cNvPr>
          <p:cNvSpPr txBox="1"/>
          <p:nvPr/>
        </p:nvSpPr>
        <p:spPr>
          <a:xfrm>
            <a:off x="546100" y="1625600"/>
            <a:ext cx="80645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500">
                <a:solidFill>
                  <a:srgbClr val="000000"/>
                </a:solidFill>
                <a:latin typeface="Arial"/>
                <a:cs typeface="Arial"/>
              </a:rPr>
              <a:t>•  Reliance on preparation can be predicted by a network’s observability of the output nullspace relative to controllability.</a:t>
            </a:r>
            <a:endParaRPr lang="en-IL" sz="25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070695-FCB9-4BAD-972D-0F6C4A5239F9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Schimel eLife 2023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D547EC-67F1-D9CD-B66A-FA163D890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079474"/>
            <a:ext cx="1867099" cy="9462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3F2E05-89CC-6B1A-03A8-D41AABB3B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4505283"/>
            <a:ext cx="2485914" cy="4849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240EDE-EEA0-2FAC-9C6C-E5AB3CD46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00" y="4967817"/>
            <a:ext cx="2160006" cy="7654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DB5BD9-D109-FDBA-688A-14DF0B31D6AA}"/>
              </a:ext>
            </a:extLst>
          </p:cNvPr>
          <p:cNvSpPr txBox="1"/>
          <p:nvPr/>
        </p:nvSpPr>
        <p:spPr>
          <a:xfrm>
            <a:off x="611560" y="4195597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Observability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0DA063-A06D-023C-97B0-89C1DE913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8" y="4561184"/>
            <a:ext cx="2485914" cy="508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26C5DA-1A40-2688-BE32-99867A318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1840" y="5157564"/>
            <a:ext cx="1957388" cy="647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363004-C4DD-ECE9-5E9F-163E5E85D306}"/>
              </a:ext>
            </a:extLst>
          </p:cNvPr>
          <p:cNvSpPr txBox="1"/>
          <p:nvPr/>
        </p:nvSpPr>
        <p:spPr>
          <a:xfrm>
            <a:off x="3220203" y="424269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Controllability</a:t>
            </a:r>
            <a:endParaRPr lang="en-I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8E192C-8190-4AB8-6278-81776E227D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8679" y="3108178"/>
            <a:ext cx="2880041" cy="305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82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A41D084-B99A-4E7E-A68C-21F05C4E21AC}"/>
              </a:ext>
            </a:extLst>
          </p:cNvPr>
          <p:cNvSpPr txBox="1"/>
          <p:nvPr/>
        </p:nvSpPr>
        <p:spPr>
          <a:xfrm>
            <a:off x="127000" y="304800"/>
            <a:ext cx="8890000" cy="685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3600">
                <a:solidFill>
                  <a:srgbClr val="000000"/>
                </a:solidFill>
                <a:latin typeface="Arial"/>
                <a:cs typeface="Arial"/>
              </a:rPr>
              <a:t>Learning Constraints: Within vs. Outside</a:t>
            </a:r>
            <a:endParaRPr lang="en-IL" sz="3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F01620-1142-49AB-A43D-EB4F32237A88}"/>
              </a:ext>
            </a:extLst>
          </p:cNvPr>
          <p:cNvSpPr txBox="1"/>
          <p:nvPr/>
        </p:nvSpPr>
        <p:spPr>
          <a:xfrm>
            <a:off x="3139948" y="914400"/>
            <a:ext cx="2864104" cy="685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3600">
                <a:solidFill>
                  <a:srgbClr val="000000"/>
                </a:solidFill>
                <a:latin typeface="Arial"/>
                <a:cs typeface="Arial"/>
              </a:rPr>
              <a:t>Manifolds</a:t>
            </a:r>
            <a:endParaRPr lang="en-IL" sz="3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CA0778-C765-434E-9166-F2E263384A02}"/>
              </a:ext>
            </a:extLst>
          </p:cNvPr>
          <p:cNvSpPr txBox="1"/>
          <p:nvPr/>
        </p:nvSpPr>
        <p:spPr>
          <a:xfrm>
            <a:off x="539750" y="1633240"/>
            <a:ext cx="8064500" cy="85965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•  Within-manifold learning is fast; outside-manifold learning is slow and requires structural reorganization.</a:t>
            </a:r>
            <a:endParaRPr lang="en-IL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838F3E-3A93-4065-BA0A-B064B764AA7A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Feulner and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Clopath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PLOS Comp Biol 2021</a:t>
            </a:r>
            <a:endParaRPr lang="en-IL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EA764F-8888-31CC-8775-805B23117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2492896"/>
            <a:ext cx="2987118" cy="38610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03D424-F382-C0ED-7F10-067EC0C11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35536"/>
            <a:ext cx="5276087" cy="219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20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3191806-F36F-4945-AE3C-69A6668C3523}"/>
              </a:ext>
            </a:extLst>
          </p:cNvPr>
          <p:cNvSpPr txBox="1"/>
          <p:nvPr/>
        </p:nvSpPr>
        <p:spPr>
          <a:xfrm>
            <a:off x="594359" y="482600"/>
            <a:ext cx="795528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Signatures of Motor Memory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09A5F8-9763-4D5A-8743-D78F206D7ABD}"/>
              </a:ext>
            </a:extLst>
          </p:cNvPr>
          <p:cNvSpPr txBox="1"/>
          <p:nvPr/>
        </p:nvSpPr>
        <p:spPr>
          <a:xfrm>
            <a:off x="470414" y="1333500"/>
            <a:ext cx="80645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•  Learning new tasks leaves memory traces and uniform shifts in the neural manifold, facilitating faster relearning.</a:t>
            </a:r>
            <a:endParaRPr lang="en-IL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284615-0D90-42F0-95DE-C47376622822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Chang et al.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eLife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2025</a:t>
            </a:r>
            <a:endParaRPr lang="en-IL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0A80E6-EF5D-368E-D75E-D5770FC4E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305173"/>
            <a:ext cx="7884368" cy="407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963AC84-8571-4666-9FF8-F66FE93C69F3}"/>
              </a:ext>
            </a:extLst>
          </p:cNvPr>
          <p:cNvSpPr txBox="1"/>
          <p:nvPr/>
        </p:nvSpPr>
        <p:spPr>
          <a:xfrm>
            <a:off x="431799" y="482600"/>
            <a:ext cx="828040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Instantaneous Voice Synthesis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979CE7-0ACF-4465-89C4-751FC6C59400}"/>
              </a:ext>
            </a:extLst>
          </p:cNvPr>
          <p:cNvSpPr txBox="1"/>
          <p:nvPr/>
        </p:nvSpPr>
        <p:spPr>
          <a:xfrm>
            <a:off x="539749" y="1231648"/>
            <a:ext cx="8064500" cy="82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•  Manifold principles enable causal, 10ms-latency decoding of speech directly from </a:t>
            </a:r>
            <a:r>
              <a:rPr lang="en-US" sz="2000" dirty="0" err="1">
                <a:solidFill>
                  <a:srgbClr val="000000"/>
                </a:solidFill>
                <a:latin typeface="Arial"/>
                <a:cs typeface="Arial"/>
              </a:rPr>
              <a:t>vPCG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 recordings in patients with ALS.</a:t>
            </a:r>
            <a:endParaRPr lang="en-IL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4295C7-F130-44C7-B6D2-D1414D5CFD7A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Wairagkar Nature 2025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3A2348-36B0-3C38-6BDE-54868D1E6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0" y="2193648"/>
            <a:ext cx="8423920" cy="391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75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A308496-9553-4112-921D-0B3E8988D5A7}"/>
              </a:ext>
            </a:extLst>
          </p:cNvPr>
          <p:cNvSpPr txBox="1"/>
          <p:nvPr/>
        </p:nvSpPr>
        <p:spPr>
          <a:xfrm>
            <a:off x="132079" y="482600"/>
            <a:ext cx="8879840" cy="736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rial"/>
                <a:cs typeface="Arial"/>
              </a:rPr>
              <a:t>Articulatory Kinematic Manifolds</a:t>
            </a:r>
            <a:endParaRPr lang="en-IL" sz="4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97CC2F-F9DF-4B08-B713-45474904174D}"/>
              </a:ext>
            </a:extLst>
          </p:cNvPr>
          <p:cNvSpPr txBox="1"/>
          <p:nvPr/>
        </p:nvSpPr>
        <p:spPr>
          <a:xfrm>
            <a:off x="539750" y="1285859"/>
            <a:ext cx="8064500" cy="1012314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•  Decoding high-dimensional neural activity into low-dimensional articulatory manifolds allows personalized voice synthesis.</a:t>
            </a:r>
            <a:endParaRPr lang="en-IL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8C105F-89BD-4CD3-98BA-A017FBD2C98F}"/>
              </a:ext>
            </a:extLst>
          </p:cNvPr>
          <p:cNvSpPr txBox="1"/>
          <p:nvPr/>
        </p:nvSpPr>
        <p:spPr>
          <a:xfrm>
            <a:off x="266700" y="6489700"/>
            <a:ext cx="711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Wairagkar Nature 2025</a:t>
            </a:r>
            <a:endParaRPr lang="en-IL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DCCCF2-B42F-82CF-18B1-6960191D6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764625"/>
            <a:ext cx="6588224" cy="359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8533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9C5DEF3-D077-4227-B1EE-980DFEA72C26}">
  <we:reference id="WA200010215" version="2.0.0.0" store="Omex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8222</TotalTime>
  <Words>486</Words>
  <Application>Microsoft Office PowerPoint</Application>
  <PresentationFormat>On-screen Show (4:3)</PresentationFormat>
  <Paragraphs>65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Rotational dynamics in M1 reaching</vt:lpstr>
      <vt:lpstr>Feedback or feedforward motor control?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BGU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Physiology of the motor system</dc:title>
  <dc:creator>Opher Donchin</dc:creator>
  <cp:lastModifiedBy>Opher Donchin</cp:lastModifiedBy>
  <cp:revision>109</cp:revision>
  <dcterms:created xsi:type="dcterms:W3CDTF">2008-01-20T14:44:53Z</dcterms:created>
  <dcterms:modified xsi:type="dcterms:W3CDTF">2026-06-23T05:34:03Z</dcterms:modified>
</cp:coreProperties>
</file>